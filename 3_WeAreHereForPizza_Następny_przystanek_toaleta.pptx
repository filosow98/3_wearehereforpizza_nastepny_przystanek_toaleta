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5143500" cx="9144000"/>
  <p:notesSz cx="5143500" cy="9144000"/>
  <p:embeddedFontLst>
    <p:embeddedFont>
      <p:font typeface="League Spartan ExtraBold"/>
      <p:bold r:id="rId12"/>
    </p:embeddedFont>
    <p:embeddedFont>
      <p:font typeface="Space Mono"/>
      <p:regular r:id="rId13"/>
      <p:bold r:id="rId14"/>
      <p:italic r:id="rId15"/>
      <p:boldItalic r:id="rId16"/>
    </p:embeddedFont>
    <p:embeddedFont>
      <p:font typeface="Saira Condensed Medium"/>
      <p:regular r:id="rId17"/>
      <p:bold r:id="rId18"/>
    </p:embeddedFont>
    <p:embeddedFont>
      <p:font typeface="League Spartan Black"/>
      <p:bold r:id="rId19"/>
    </p:embeddedFont>
    <p:embeddedFont>
      <p:font typeface="Saira Condensed"/>
      <p:bold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SairaCondensed-bold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SpaceMono-regular.fntdata"/><Relationship Id="rId12" Type="http://schemas.openxmlformats.org/officeDocument/2006/relationships/font" Target="fonts/LeagueSpartanExtraBold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SpaceMono-italic.fntdata"/><Relationship Id="rId14" Type="http://schemas.openxmlformats.org/officeDocument/2006/relationships/font" Target="fonts/SpaceMono-bold.fntdata"/><Relationship Id="rId17" Type="http://schemas.openxmlformats.org/officeDocument/2006/relationships/font" Target="fonts/SairaCondensedMedium-regular.fntdata"/><Relationship Id="rId16" Type="http://schemas.openxmlformats.org/officeDocument/2006/relationships/font" Target="fonts/SpaceMono-boldItalic.fntdata"/><Relationship Id="rId5" Type="http://schemas.openxmlformats.org/officeDocument/2006/relationships/slide" Target="slides/slide1.xml"/><Relationship Id="rId19" Type="http://schemas.openxmlformats.org/officeDocument/2006/relationships/font" Target="fonts/LeagueSpartanBlack-bold.fntdata"/><Relationship Id="rId6" Type="http://schemas.openxmlformats.org/officeDocument/2006/relationships/slide" Target="slides/slide2.xml"/><Relationship Id="rId18" Type="http://schemas.openxmlformats.org/officeDocument/2006/relationships/font" Target="fonts/SairaCondensedMedium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" name="Google Shape;1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>
                <a:solidFill>
                  <a:schemeClr val="lt1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Cześć wszystkim! Zacznę od pytania. Podnieście rękę: kto z was był kiedyś w dużym mieście, daleko od domu, i bardzo chciało mu się do toalety… a nie miał pojęcia, gdzie jej szukać?</a:t>
            </a:r>
            <a:endParaRPr sz="900">
              <a:solidFill>
                <a:schemeClr val="lt1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" name="Google Shape;2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>
                <a:solidFill>
                  <a:schemeClr val="lt1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Dla was to była chwila stresu. A teraz pani Halina. Ma 78 lat, nie korzysta ze smartfona i ma problem z trzymaniem moczu. W lipcowym upale jedzie dwoma autobusami do kardiologa. Rano nie pije ani łyka, bo nie wie, czy po drodze będzie toaleta.</a:t>
            </a:r>
            <a:endParaRPr sz="900">
              <a:solidFill>
                <a:schemeClr val="lt1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chemeClr val="lt1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>
                <a:solidFill>
                  <a:schemeClr val="lt1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To nie wyjątek. W badaniach z Wielkiej Brytanii </a:t>
            </a:r>
            <a:r>
              <a:rPr b="1" lang="en-US" sz="900">
                <a:solidFill>
                  <a:schemeClr val="lt1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**co druga osoba**</a:t>
            </a:r>
            <a:r>
              <a:rPr lang="en-US" sz="900">
                <a:solidFill>
                  <a:schemeClr val="lt1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pije poza domem mniej, bo boi się, że nie znajdzie toalety. Warszawie  A seniorzy i tak słabiej czują pragnienie, mniej więcej co piąty jest odwodniony. W upale to prosta droga do szpitala.</a:t>
            </a:r>
            <a:endParaRPr sz="900">
              <a:solidFill>
                <a:schemeClr val="lt1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" name="Google Shape;4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rgbClr val="141414"/>
              </a:solidFill>
              <a:highlight>
                <a:srgbClr val="FCFCF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" name="Google Shape;4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>
                <a:solidFill>
                  <a:schemeClr val="lt1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Ta sama podróż jeszcze raz. Pani Halina wysiada z autobusu. Obok rozkładu wisi kartka. </a:t>
            </a:r>
            <a:r>
              <a:rPr i="1" lang="en-US" sz="900">
                <a:solidFill>
                  <a:schemeClr val="lt1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*(pokazać kartkę)*</a:t>
            </a:r>
            <a:endParaRPr i="1" sz="900">
              <a:solidFill>
                <a:schemeClr val="lt1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chemeClr val="lt1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900">
                <a:solidFill>
                  <a:schemeClr val="lt1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„Najbliższa toaleta: 250 metrów, około 7 minut pieszo.” Mapka ze strzałką. Bezpłatna, dostępna dla wózków. Godziny otwarcia, a gdy zamknięta, najbliższa czynna. Po polsku i po angielsku.  </a:t>
            </a:r>
            <a:r>
              <a:rPr lang="en-US" sz="900">
                <a:solidFill>
                  <a:srgbClr val="141414"/>
                </a:solidFill>
                <a:highlight>
                  <a:srgbClr val="FCFCFC"/>
                </a:highlight>
                <a:latin typeface="Courier New"/>
                <a:ea typeface="Courier New"/>
                <a:cs typeface="Courier New"/>
                <a:sym typeface="Courier New"/>
              </a:rPr>
              <a:t>Taką kartkę generujemy automatycznie dla każdego z siedmiu tysięcy słupków w Warszawie, z otwartych danych miasta. Wybieram przystanek… i mam plik do druku.</a:t>
            </a:r>
            <a:endParaRPr sz="900">
              <a:solidFill>
                <a:srgbClr val="141414"/>
              </a:solidFill>
              <a:highlight>
                <a:srgbClr val="FCFCF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900">
              <a:solidFill>
                <a:srgbClr val="141414"/>
              </a:solidFill>
              <a:highlight>
                <a:srgbClr val="FCFCF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chemeClr val="lt1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chemeClr val="lt1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>
                <a:solidFill>
                  <a:schemeClr val="lt1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Pani Halina wie, że da radę. Więc rano wypiła herbatę i wzięła wodę.</a:t>
            </a:r>
            <a:endParaRPr sz="900">
              <a:solidFill>
                <a:schemeClr val="lt1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rgbClr val="141414"/>
              </a:solidFill>
              <a:highlight>
                <a:srgbClr val="FCFCF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" name="Google Shape;5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skonowlaibyscie nieznane cody QR?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>
                <a:solidFill>
                  <a:srgbClr val="141414"/>
                </a:solidFill>
                <a:highlight>
                  <a:srgbClr val="FCFCFC"/>
                </a:highlight>
                <a:latin typeface="Courier New"/>
                <a:ea typeface="Courier New"/>
                <a:cs typeface="Courier New"/>
                <a:sym typeface="Courier New"/>
              </a:rPr>
              <a:t>Po pierwsze: </a:t>
            </a:r>
            <a:r>
              <a:rPr b="1" lang="en-US" sz="900">
                <a:solidFill>
                  <a:srgbClr val="141414"/>
                </a:solidFill>
                <a:highlight>
                  <a:srgbClr val="FCFCFC"/>
                </a:highlight>
                <a:latin typeface="Courier New"/>
                <a:ea typeface="Courier New"/>
                <a:cs typeface="Courier New"/>
                <a:sym typeface="Courier New"/>
              </a:rPr>
              <a:t>**nie trzeba telefonu**</a:t>
            </a:r>
            <a:r>
              <a:rPr lang="en-US" sz="900">
                <a:solidFill>
                  <a:srgbClr val="141414"/>
                </a:solidFill>
                <a:highlight>
                  <a:srgbClr val="FCFCFC"/>
                </a:highlight>
                <a:latin typeface="Courier New"/>
                <a:ea typeface="Courier New"/>
                <a:cs typeface="Courier New"/>
                <a:sym typeface="Courier New"/>
              </a:rPr>
              <a:t>. Mniej więcej połowa osób po sześćdziesiątce piątce nie korzysta z internetu. </a:t>
            </a:r>
            <a:endParaRPr sz="900">
              <a:solidFill>
                <a:srgbClr val="141414"/>
              </a:solidFill>
              <a:highlight>
                <a:srgbClr val="FCFCF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>
                <a:solidFill>
                  <a:srgbClr val="141414"/>
                </a:solidFill>
                <a:highlight>
                  <a:srgbClr val="FCFCFC"/>
                </a:highlight>
                <a:latin typeface="Courier New"/>
                <a:ea typeface="Courier New"/>
                <a:cs typeface="Courier New"/>
                <a:sym typeface="Courier New"/>
              </a:rPr>
              <a:t>Po drugie: </a:t>
            </a:r>
            <a:r>
              <a:rPr b="1" lang="en-US" sz="900">
                <a:solidFill>
                  <a:srgbClr val="141414"/>
                </a:solidFill>
                <a:highlight>
                  <a:srgbClr val="FCFCFC"/>
                </a:highlight>
                <a:latin typeface="Courier New"/>
                <a:ea typeface="Courier New"/>
                <a:cs typeface="Courier New"/>
                <a:sym typeface="Courier New"/>
              </a:rPr>
              <a:t>**jesteśmy tam, gdzie się czeka**</a:t>
            </a:r>
            <a:r>
              <a:rPr lang="en-US" sz="900">
                <a:solidFill>
                  <a:srgbClr val="141414"/>
                </a:solidFill>
                <a:highlight>
                  <a:srgbClr val="FCFCFC"/>
                </a:highlight>
                <a:latin typeface="Courier New"/>
                <a:ea typeface="Courier New"/>
                <a:cs typeface="Courier New"/>
                <a:sym typeface="Courier New"/>
              </a:rPr>
              <a:t>. Każda podróż komunikacją zaczyna się i kończy na przystanku. Tam jest czas, żeby przeczytać kartkę.</a:t>
            </a:r>
            <a:endParaRPr sz="900">
              <a:solidFill>
                <a:srgbClr val="141414"/>
              </a:solidFill>
              <a:highlight>
                <a:srgbClr val="FCFCF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" name="Google Shape;7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>
                <a:solidFill>
                  <a:srgbClr val="141414"/>
                </a:solidFill>
                <a:highlight>
                  <a:srgbClr val="FCFCFC"/>
                </a:highlight>
                <a:latin typeface="Courier New"/>
                <a:ea typeface="Courier New"/>
                <a:cs typeface="Courier New"/>
                <a:sym typeface="Courier New"/>
              </a:rPr>
              <a:t>Sprawdziliśmy, z ilu przystanków senior dojdzie w dziesięć minut do bezpłatnej, dostępnej toalety. Z </a:t>
            </a:r>
            <a:r>
              <a:rPr b="1" lang="en-US" sz="900">
                <a:solidFill>
                  <a:srgbClr val="141414"/>
                </a:solidFill>
                <a:highlight>
                  <a:srgbClr val="FCFCFC"/>
                </a:highlight>
                <a:latin typeface="Courier New"/>
                <a:ea typeface="Courier New"/>
                <a:cs typeface="Courier New"/>
                <a:sym typeface="Courier New"/>
              </a:rPr>
              <a:t>**sześciu na dziesięć**</a:t>
            </a:r>
            <a:r>
              <a:rPr lang="en-US" sz="900">
                <a:solidFill>
                  <a:srgbClr val="141414"/>
                </a:solidFill>
                <a:highlight>
                  <a:srgbClr val="FCFCFC"/>
                </a:highlight>
                <a:latin typeface="Courier New"/>
                <a:ea typeface="Courier New"/>
                <a:cs typeface="Courier New"/>
                <a:sym typeface="Courier New"/>
              </a:rPr>
              <a:t> nie dojdzie. Tę listę luk też oddajemy miastu. A tam, gdzie toalety brakuje, nie trzeba od razu budować nowej, drogiej toalety. Miasto może się dogadać z pobliską restauracją albo kawiarnią.</a:t>
            </a:r>
            <a:endParaRPr sz="900">
              <a:solidFill>
                <a:srgbClr val="141414"/>
              </a:solidFill>
              <a:highlight>
                <a:srgbClr val="FCFCF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rgbClr val="141414"/>
              </a:solidFill>
              <a:highlight>
                <a:srgbClr val="FCFCF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>
                <a:solidFill>
                  <a:srgbClr val="141414"/>
                </a:solidFill>
                <a:highlight>
                  <a:srgbClr val="FCFCFC"/>
                </a:highlight>
                <a:latin typeface="Courier New"/>
                <a:ea typeface="Courier New"/>
                <a:cs typeface="Courier New"/>
                <a:sym typeface="Courier New"/>
              </a:rPr>
              <a:t>Koszt? Druk kartki A4 do ramki, która już wisi. Błąd? Numer przystanku i 19115.</a:t>
            </a:r>
            <a:endParaRPr sz="900">
              <a:solidFill>
                <a:srgbClr val="141414"/>
              </a:solidFill>
              <a:highlight>
                <a:srgbClr val="FCFCF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rgbClr val="141414"/>
              </a:solidFill>
              <a:highlight>
                <a:srgbClr val="FCFCF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>
                <a:solidFill>
                  <a:srgbClr val="141414"/>
                </a:solidFill>
                <a:highlight>
                  <a:srgbClr val="FCFCFC"/>
                </a:highlight>
                <a:latin typeface="Courier New"/>
                <a:ea typeface="Courier New"/>
                <a:cs typeface="Courier New"/>
                <a:sym typeface="Courier New"/>
              </a:rPr>
              <a:t>I nie jesteśmy sami: Stowarzyszenie Głos Seniora właśnie ruszyło z kampanią „Toalety ratują życie”.</a:t>
            </a:r>
            <a:endParaRPr sz="900">
              <a:solidFill>
                <a:srgbClr val="141414"/>
              </a:solidFill>
              <a:highlight>
                <a:srgbClr val="FCFCF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>
                <a:solidFill>
                  <a:srgbClr val="141414"/>
                </a:solidFill>
                <a:highlight>
                  <a:srgbClr val="FCFCFC"/>
                </a:highlight>
                <a:latin typeface="Courier New"/>
                <a:ea typeface="Courier New"/>
                <a:cs typeface="Courier New"/>
                <a:sym typeface="Courier New"/>
              </a:rPr>
              <a:t>Na początku podnieśliście ręce. Bo każdy czasem musi: senior, dziecko i prezes na city breaku. To po prostu funkcja życiowa.</a:t>
            </a:r>
            <a:endParaRPr sz="900">
              <a:solidFill>
                <a:srgbClr val="141414"/>
              </a:solidFill>
              <a:highlight>
                <a:srgbClr val="FCFCF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rgbClr val="141414"/>
              </a:solidFill>
              <a:highlight>
                <a:srgbClr val="FCFCF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>
                <a:solidFill>
                  <a:srgbClr val="141414"/>
                </a:solidFill>
                <a:highlight>
                  <a:srgbClr val="FCFCFC"/>
                </a:highlight>
                <a:latin typeface="Courier New"/>
                <a:ea typeface="Courier New"/>
                <a:cs typeface="Courier New"/>
                <a:sym typeface="Courier New"/>
              </a:rPr>
              <a:t>Dlatego kartka jest też po angielsku. Warszawę odwiedza osiem i siedem dziesiątych miliona turystów rocznie. Niech wyjeżdżają z myślą: to miasto dba nie tylko o mieszkańców, ale też o gości.</a:t>
            </a:r>
            <a:endParaRPr sz="900">
              <a:solidFill>
                <a:srgbClr val="141414"/>
              </a:solidFill>
              <a:highlight>
                <a:srgbClr val="FCFCF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rgbClr val="141414"/>
              </a:solidFill>
              <a:highlight>
                <a:srgbClr val="FCFCF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>
                <a:solidFill>
                  <a:srgbClr val="141414"/>
                </a:solidFill>
                <a:highlight>
                  <a:srgbClr val="FCFCFC"/>
                </a:highlight>
                <a:latin typeface="Courier New"/>
                <a:ea typeface="Courier New"/>
                <a:cs typeface="Courier New"/>
                <a:sym typeface="Courier New"/>
              </a:rPr>
              <a:t>Żeby pani Halina mogła rano spokojnie napić się herbaty, a turysta z Włoch nie musiał biegać po miescie.</a:t>
            </a:r>
            <a:endParaRPr sz="900">
              <a:solidFill>
                <a:srgbClr val="141414"/>
              </a:solidFill>
              <a:highlight>
                <a:srgbClr val="FCFCF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rgbClr val="141414"/>
              </a:solidFill>
              <a:highlight>
                <a:srgbClr val="FCFCF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>
                <a:solidFill>
                  <a:srgbClr val="141414"/>
                </a:solidFill>
                <a:highlight>
                  <a:srgbClr val="FCFCFC"/>
                </a:highlight>
                <a:latin typeface="Courier New"/>
                <a:ea typeface="Courier New"/>
                <a:cs typeface="Courier New"/>
                <a:sym typeface="Courier New"/>
              </a:rPr>
              <a:t>Dziękujemy!</a:t>
            </a:r>
            <a:endParaRPr sz="900">
              <a:solidFill>
                <a:srgbClr val="141414"/>
              </a:solidFill>
              <a:highlight>
                <a:srgbClr val="FCFCF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rgbClr val="141414"/>
              </a:solidFill>
              <a:highlight>
                <a:srgbClr val="FCFCF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master 1">
  <p:cSld name="Slide master 1">
    <p:bg>
      <p:bgPr>
        <a:solidFill>
          <a:srgbClr val="FFFFFF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" name="Google Shape;11;p2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hyperlink" Target="http://drive.google.com/file/d/1HmY4fK-dH6AD6nYtSP3la6nVHeL60z76/view" TargetMode="External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8.png"/><Relationship Id="rId6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/>
          <p:nvPr/>
        </p:nvSpPr>
        <p:spPr>
          <a:xfrm>
            <a:off x="457200" y="1783035"/>
            <a:ext cx="45720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1F2B5E"/>
              </a:buClr>
              <a:buSzPts val="4300"/>
              <a:buFont typeface="League Spartan Black"/>
              <a:buNone/>
            </a:pPr>
            <a:r>
              <a:t/>
            </a:r>
            <a:endParaRPr sz="4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1F2B5E"/>
              </a:buClr>
              <a:buSzPts val="4300"/>
              <a:buFont typeface="League Spartan Black"/>
              <a:buNone/>
            </a:pPr>
            <a:r>
              <a:t/>
            </a:r>
            <a:endParaRPr sz="4300">
              <a:solidFill>
                <a:srgbClr val="1F2B5E"/>
              </a:solidFill>
              <a:latin typeface="League Spartan Black"/>
              <a:ea typeface="League Spartan Black"/>
              <a:cs typeface="League Spartan Black"/>
              <a:sym typeface="League Spartan Black"/>
            </a:endParaRPr>
          </a:p>
        </p:txBody>
      </p:sp>
      <p:sp>
        <p:nvSpPr>
          <p:cNvPr id="19" name="Google Shape;19;p4"/>
          <p:cNvSpPr/>
          <p:nvPr/>
        </p:nvSpPr>
        <p:spPr>
          <a:xfrm>
            <a:off x="361950" y="3374792"/>
            <a:ext cx="45720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1F2B5E"/>
              </a:buClr>
              <a:buSzPts val="1600"/>
              <a:buFont typeface="Saira Condensed Medium"/>
              <a:buNone/>
            </a:pPr>
            <a:r>
              <a:rPr lang="en-US" sz="1600">
                <a:solidFill>
                  <a:srgbClr val="1F2B5E"/>
                </a:solidFill>
                <a:latin typeface="Saira Condensed Medium"/>
                <a:ea typeface="Saira Condensed Medium"/>
                <a:cs typeface="Saira Condensed Medium"/>
                <a:sym typeface="Saira Condensed Medium"/>
              </a:rPr>
              <a:t>Każdy</a:t>
            </a:r>
            <a:r>
              <a:rPr lang="en-US" sz="1600">
                <a:solidFill>
                  <a:srgbClr val="1F2B5E"/>
                </a:solidFill>
                <a:latin typeface="Saira Condensed Medium"/>
                <a:ea typeface="Saira Condensed Medium"/>
                <a:cs typeface="Saira Condensed Medium"/>
                <a:sym typeface="Saira Condensed Medium"/>
              </a:rPr>
              <a:t> czasem musi, ale nie zawsze </a:t>
            </a:r>
            <a:r>
              <a:rPr lang="en-US" sz="1600">
                <a:solidFill>
                  <a:srgbClr val="1F2B5E"/>
                </a:solidFill>
                <a:latin typeface="Saira Condensed Medium"/>
                <a:ea typeface="Saira Condensed Medium"/>
                <a:cs typeface="Saira Condensed Medium"/>
                <a:sym typeface="Saira Condensed Medium"/>
              </a:rPr>
              <a:t>może…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0" name="Google Shape;20;p4"/>
          <p:cNvPicPr preferRelativeResize="0"/>
          <p:nvPr/>
        </p:nvPicPr>
        <p:blipFill rotWithShape="1">
          <a:blip r:embed="rId3">
            <a:alphaModFix/>
          </a:blip>
          <a:srcRect b="0" l="2630" r="-2630" t="0"/>
          <a:stretch/>
        </p:blipFill>
        <p:spPr>
          <a:xfrm>
            <a:off x="4439325" y="133350"/>
            <a:ext cx="4704676" cy="4704676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4"/>
          <p:cNvSpPr/>
          <p:nvPr/>
        </p:nvSpPr>
        <p:spPr>
          <a:xfrm>
            <a:off x="5855663" y="4325925"/>
            <a:ext cx="18720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1F2B5E"/>
              </a:buClr>
              <a:buSzPts val="1600"/>
              <a:buFont typeface="Saira Condensed Medium"/>
              <a:buNone/>
            </a:pPr>
            <a:r>
              <a:rPr lang="en-US" sz="1800">
                <a:solidFill>
                  <a:srgbClr val="1F2B5E"/>
                </a:solidFill>
                <a:latin typeface="Saira Condensed Medium"/>
                <a:ea typeface="Saira Condensed Medium"/>
                <a:cs typeface="Saira Condensed Medium"/>
                <a:sym typeface="Saira Condensed Medium"/>
              </a:rPr>
              <a:t>  Syrenka </a:t>
            </a:r>
            <a:r>
              <a:rPr lang="en-US" sz="1800">
                <a:solidFill>
                  <a:srgbClr val="1F2B5E"/>
                </a:solidFill>
                <a:latin typeface="Saira Condensed Medium"/>
                <a:ea typeface="Saira Condensed Medium"/>
                <a:cs typeface="Saira Condensed Medium"/>
                <a:sym typeface="Saira Condensed Medium"/>
              </a:rPr>
              <a:t>łazienkowa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4"/>
          <p:cNvSpPr/>
          <p:nvPr/>
        </p:nvSpPr>
        <p:spPr>
          <a:xfrm>
            <a:off x="361950" y="1898258"/>
            <a:ext cx="3838500" cy="13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9000"/>
              </a:lnSpc>
              <a:spcBef>
                <a:spcPts val="0"/>
              </a:spcBef>
              <a:spcAft>
                <a:spcPts val="0"/>
              </a:spcAft>
              <a:buClr>
                <a:srgbClr val="1F2B5E"/>
              </a:buClr>
              <a:buSzPts val="2900"/>
              <a:buFont typeface="League Spartan ExtraBold"/>
              <a:buNone/>
            </a:pPr>
            <a:r>
              <a:rPr lang="en-US" sz="3900">
                <a:solidFill>
                  <a:srgbClr val="1F2B5E"/>
                </a:solidFill>
                <a:latin typeface="League Spartan ExtraBold"/>
                <a:ea typeface="League Spartan ExtraBold"/>
                <a:cs typeface="League Spartan ExtraBold"/>
                <a:sym typeface="League Spartan ExtraBold"/>
              </a:rPr>
              <a:t>NASTĘPNY</a:t>
            </a:r>
            <a:r>
              <a:rPr lang="en-US" sz="3900">
                <a:solidFill>
                  <a:srgbClr val="1F2B5E"/>
                </a:solidFill>
                <a:latin typeface="League Spartan ExtraBold"/>
                <a:ea typeface="League Spartan ExtraBold"/>
                <a:cs typeface="League Spartan ExtraBold"/>
                <a:sym typeface="League Spartan ExtraBold"/>
              </a:rPr>
              <a:t> PRZYSTANEK: TOALETA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/>
          <p:nvPr/>
        </p:nvSpPr>
        <p:spPr>
          <a:xfrm>
            <a:off x="457200" y="191095"/>
            <a:ext cx="3884637" cy="1607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D8232A"/>
              </a:buClr>
              <a:buSzPts val="950"/>
              <a:buFont typeface="Space Mono"/>
              <a:buNone/>
            </a:pPr>
            <a:r>
              <a:rPr b="0" i="0" lang="en-US" sz="950" u="none" cap="none" strike="noStrike">
                <a:solidFill>
                  <a:srgbClr val="D8232A"/>
                </a:solidFill>
                <a:latin typeface="Space Mono"/>
                <a:ea typeface="Space Mono"/>
                <a:cs typeface="Space Mono"/>
                <a:sym typeface="Space Mono"/>
              </a:rPr>
              <a:t>PROBLEM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5"/>
          <p:cNvSpPr/>
          <p:nvPr/>
        </p:nvSpPr>
        <p:spPr>
          <a:xfrm>
            <a:off x="457100" y="648300"/>
            <a:ext cx="37704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9000"/>
              </a:lnSpc>
              <a:spcBef>
                <a:spcPts val="0"/>
              </a:spcBef>
              <a:spcAft>
                <a:spcPts val="0"/>
              </a:spcAft>
              <a:buClr>
                <a:srgbClr val="1F2B5E"/>
              </a:buClr>
              <a:buSzPts val="2900"/>
              <a:buFont typeface="League Spartan ExtraBold"/>
              <a:buNone/>
            </a:pPr>
            <a:r>
              <a:rPr b="0" i="0" lang="en-US" sz="2900" u="none" cap="none" strike="noStrike">
                <a:solidFill>
                  <a:srgbClr val="1F2B5E"/>
                </a:solidFill>
                <a:latin typeface="League Spartan ExtraBold"/>
                <a:ea typeface="League Spartan ExtraBold"/>
                <a:cs typeface="League Spartan ExtraBold"/>
                <a:sym typeface="League Spartan ExtraBold"/>
              </a:rPr>
              <a:t>PANI HALINA, </a:t>
            </a:r>
            <a:r>
              <a:rPr lang="en-US" sz="2900">
                <a:solidFill>
                  <a:srgbClr val="1F2B5E"/>
                </a:solidFill>
                <a:latin typeface="League Spartan ExtraBold"/>
                <a:ea typeface="League Spartan ExtraBold"/>
                <a:cs typeface="League Spartan ExtraBold"/>
                <a:sym typeface="League Spartan ExtraBold"/>
              </a:rPr>
              <a:t>71</a:t>
            </a:r>
            <a:r>
              <a:rPr b="0" i="0" lang="en-US" sz="2900" u="none" cap="none" strike="noStrike">
                <a:solidFill>
                  <a:srgbClr val="1F2B5E"/>
                </a:solidFill>
                <a:latin typeface="League Spartan ExtraBold"/>
                <a:ea typeface="League Spartan ExtraBold"/>
                <a:cs typeface="League Spartan ExtraBold"/>
                <a:sym typeface="League Spartan ExtraBold"/>
              </a:rPr>
              <a:t> LAT</a:t>
            </a:r>
            <a:endParaRPr b="0" i="0" sz="2900" u="none" cap="none" strike="noStrike">
              <a:solidFill>
                <a:srgbClr val="1F2B5E"/>
              </a:solidFill>
              <a:latin typeface="League Spartan ExtraBold"/>
              <a:ea typeface="League Spartan ExtraBold"/>
              <a:cs typeface="League Spartan ExtraBold"/>
              <a:sym typeface="League Spartan ExtraBold"/>
            </a:endParaRPr>
          </a:p>
          <a:p>
            <a:pPr indent="0" lvl="0" marL="0" marR="0" rtl="0" algn="l">
              <a:lnSpc>
                <a:spcPct val="79000"/>
              </a:lnSpc>
              <a:spcBef>
                <a:spcPts val="0"/>
              </a:spcBef>
              <a:spcAft>
                <a:spcPts val="0"/>
              </a:spcAft>
              <a:buClr>
                <a:srgbClr val="1F2B5E"/>
              </a:buClr>
              <a:buSzPts val="2900"/>
              <a:buFont typeface="League Spartan ExtraBold"/>
              <a:buNone/>
            </a:pPr>
            <a:r>
              <a:t/>
            </a:r>
            <a:endParaRPr sz="2900">
              <a:solidFill>
                <a:srgbClr val="D8232A"/>
              </a:solidFill>
              <a:latin typeface="League Spartan ExtraBold"/>
              <a:ea typeface="League Spartan ExtraBold"/>
              <a:cs typeface="League Spartan ExtraBold"/>
              <a:sym typeface="League Spartan ExtraBold"/>
            </a:endParaRPr>
          </a:p>
          <a:p>
            <a:pPr indent="0" lvl="0" marL="0" marR="0" rtl="0" algn="l">
              <a:lnSpc>
                <a:spcPct val="79000"/>
              </a:lnSpc>
              <a:spcBef>
                <a:spcPts val="0"/>
              </a:spcBef>
              <a:spcAft>
                <a:spcPts val="0"/>
              </a:spcAft>
              <a:buClr>
                <a:srgbClr val="1F2B5E"/>
              </a:buClr>
              <a:buSzPts val="2900"/>
              <a:buFont typeface="League Spartan ExtraBold"/>
              <a:buNone/>
            </a:pPr>
            <a:r>
              <a:rPr lang="en-US" sz="1600">
                <a:solidFill>
                  <a:srgbClr val="D8232A"/>
                </a:solidFill>
                <a:latin typeface="League Spartan ExtraBold"/>
                <a:ea typeface="League Spartan ExtraBold"/>
                <a:cs typeface="League Spartan ExtraBold"/>
                <a:sym typeface="League Spartan ExtraBold"/>
              </a:rPr>
              <a:t>1 na 4 osoby w Warszawie ma 60+, GUS</a:t>
            </a:r>
            <a:endParaRPr b="0" i="0" sz="1600" u="none" cap="none" strike="noStrike">
              <a:solidFill>
                <a:srgbClr val="D8232A"/>
              </a:solidFill>
              <a:latin typeface="League Spartan ExtraBold"/>
              <a:ea typeface="League Spartan ExtraBold"/>
              <a:cs typeface="League Spartan ExtraBold"/>
              <a:sym typeface="League Spartan ExtraBold"/>
            </a:endParaRPr>
          </a:p>
          <a:p>
            <a:pPr indent="0" lvl="0" marL="0" marR="0" rtl="0" algn="l">
              <a:lnSpc>
                <a:spcPct val="79000"/>
              </a:lnSpc>
              <a:spcBef>
                <a:spcPts val="0"/>
              </a:spcBef>
              <a:spcAft>
                <a:spcPts val="0"/>
              </a:spcAft>
              <a:buClr>
                <a:srgbClr val="1F2B5E"/>
              </a:buClr>
              <a:buSzPts val="2900"/>
              <a:buFont typeface="League Spartan ExtraBold"/>
              <a:buNone/>
            </a:pPr>
            <a:r>
              <a:t/>
            </a:r>
            <a:endParaRPr sz="2900">
              <a:solidFill>
                <a:srgbClr val="1F2B5E"/>
              </a:solidFill>
              <a:latin typeface="League Spartan ExtraBold"/>
              <a:ea typeface="League Spartan ExtraBold"/>
              <a:cs typeface="League Spartan ExtraBold"/>
              <a:sym typeface="League Spartan ExtraBold"/>
            </a:endParaRPr>
          </a:p>
        </p:txBody>
      </p:sp>
      <p:pic>
        <p:nvPicPr>
          <p:cNvPr descr="preencoded.png" id="30" name="Google Shape;3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3125" y="1733088"/>
            <a:ext cx="2433406" cy="3162524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31" name="Google Shape;31;p5"/>
          <p:cNvSpPr/>
          <p:nvPr/>
        </p:nvSpPr>
        <p:spPr>
          <a:xfrm>
            <a:off x="4684663" y="0"/>
            <a:ext cx="28575" cy="5143500"/>
          </a:xfrm>
          <a:prstGeom prst="rect">
            <a:avLst/>
          </a:prstGeom>
          <a:solidFill>
            <a:srgbClr val="1F2B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5"/>
          <p:cNvSpPr/>
          <p:nvPr/>
        </p:nvSpPr>
        <p:spPr>
          <a:xfrm>
            <a:off x="5170413" y="543531"/>
            <a:ext cx="35163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1F2B5E"/>
              </a:buClr>
              <a:buSzPts val="8650"/>
              <a:buFont typeface="League Spartan Black"/>
              <a:buNone/>
            </a:pPr>
            <a:r>
              <a:rPr b="0" i="0" lang="en-US" sz="7000" u="none" cap="none" strike="noStrike">
                <a:solidFill>
                  <a:srgbClr val="1F2B5E"/>
                </a:solidFill>
                <a:latin typeface="League Spartan Black"/>
                <a:ea typeface="League Spartan Black"/>
                <a:cs typeface="League Spartan Black"/>
                <a:sym typeface="League Spartan Black"/>
              </a:rPr>
              <a:t>1 NA 2</a:t>
            </a:r>
            <a:endParaRPr b="0" i="0" sz="7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5"/>
          <p:cNvSpPr/>
          <p:nvPr/>
        </p:nvSpPr>
        <p:spPr>
          <a:xfrm>
            <a:off x="5170413" y="1337146"/>
            <a:ext cx="3516300" cy="4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232A"/>
              </a:buClr>
              <a:buSzPts val="1600"/>
              <a:buFont typeface="Saira Condensed"/>
              <a:buNone/>
            </a:pPr>
            <a:r>
              <a:rPr b="1" i="0" lang="en-US" sz="1600" u="none" cap="none" strike="noStrike">
                <a:solidFill>
                  <a:srgbClr val="D8232A"/>
                </a:solidFill>
                <a:latin typeface="Saira Condensed"/>
                <a:ea typeface="Saira Condensed"/>
                <a:cs typeface="Saira Condensed"/>
                <a:sym typeface="Saira Condensed"/>
              </a:rPr>
              <a:t>OSOBY POZA DOMEM PIJE MNIEJ, BO BOI SIĘ, ŻE NIE ZNAJDZIE TOALETY*</a:t>
            </a:r>
            <a:endParaRPr b="1" i="0" sz="1600" u="none" cap="none" strike="noStrike">
              <a:solidFill>
                <a:srgbClr val="D8232A"/>
              </a:solidFill>
              <a:latin typeface="Saira Condensed"/>
              <a:ea typeface="Saira Condensed"/>
              <a:cs typeface="Saira Condensed"/>
              <a:sym typeface="Saira Condensed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232A"/>
              </a:buClr>
              <a:buSzPts val="1600"/>
              <a:buFont typeface="Saira Condensed"/>
              <a:buNone/>
            </a:pPr>
            <a:r>
              <a:t/>
            </a:r>
            <a:endParaRPr b="1" sz="1600">
              <a:solidFill>
                <a:srgbClr val="D8232A"/>
              </a:solidFill>
              <a:latin typeface="Saira Condensed"/>
              <a:ea typeface="Saira Condensed"/>
              <a:cs typeface="Saira Condensed"/>
              <a:sym typeface="Saira Condensed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232A"/>
              </a:buClr>
              <a:buSzPts val="1600"/>
              <a:buFont typeface="Saira Condensed"/>
              <a:buNone/>
            </a:pPr>
            <a:r>
              <a:t/>
            </a:r>
            <a:endParaRPr b="1" sz="1600">
              <a:solidFill>
                <a:srgbClr val="D8232A"/>
              </a:solidFill>
              <a:latin typeface="Saira Condensed"/>
              <a:ea typeface="Saira Condensed"/>
              <a:cs typeface="Saira Condensed"/>
              <a:sym typeface="Saira Condensed"/>
            </a:endParaRPr>
          </a:p>
        </p:txBody>
      </p:sp>
      <p:sp>
        <p:nvSpPr>
          <p:cNvPr id="34" name="Google Shape;34;p5"/>
          <p:cNvSpPr/>
          <p:nvPr/>
        </p:nvSpPr>
        <p:spPr>
          <a:xfrm>
            <a:off x="5170413" y="1705576"/>
            <a:ext cx="3516300" cy="81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Calibri"/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Clr>
                <a:srgbClr val="1F2B5E"/>
              </a:buClr>
              <a:buSzPts val="1350"/>
              <a:buFont typeface="Saira Condensed Medium"/>
              <a:buNone/>
            </a:pPr>
            <a:r>
              <a:rPr lang="en-US" sz="1200">
                <a:solidFill>
                  <a:srgbClr val="1F2B5E"/>
                </a:solidFill>
                <a:latin typeface="Saira Condensed Medium"/>
                <a:ea typeface="Saira Condensed Medium"/>
                <a:cs typeface="Saira Condensed Medium"/>
                <a:sym typeface="Saira Condensed Medium"/>
              </a:rPr>
              <a:t>*</a:t>
            </a:r>
            <a:r>
              <a:rPr b="0" i="0" lang="en-US" sz="1200" u="none" cap="none" strike="noStrike">
                <a:solidFill>
                  <a:srgbClr val="1F2B5E"/>
                </a:solidFill>
                <a:latin typeface="Saira Condensed Medium"/>
                <a:ea typeface="Saira Condensed Medium"/>
                <a:cs typeface="Saira Condensed Medium"/>
                <a:sym typeface="Saira Condensed Medium"/>
              </a:rPr>
              <a:t>Źródło: </a:t>
            </a:r>
            <a:r>
              <a:rPr lang="en-US" sz="1200">
                <a:solidFill>
                  <a:srgbClr val="1F2B5E"/>
                </a:solidFill>
                <a:latin typeface="Saira Condensed Medium"/>
                <a:ea typeface="Saira Condensed Medium"/>
                <a:cs typeface="Saira Condensed Medium"/>
                <a:sym typeface="Saira Condensed Medium"/>
              </a:rPr>
              <a:t>Royal Society for Public Health, Taking the P**. The decline of the great British toilet, Wielka Brytania, 2019</a:t>
            </a:r>
            <a:endParaRPr sz="1200">
              <a:solidFill>
                <a:srgbClr val="1F2B5E"/>
              </a:solidFill>
              <a:latin typeface="Saira Condensed Medium"/>
              <a:ea typeface="Saira Condensed Medium"/>
              <a:cs typeface="Saira Condensed Medium"/>
              <a:sym typeface="Saira Condensed Medium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Clr>
                <a:srgbClr val="1F2B5E"/>
              </a:buClr>
              <a:buSzPts val="1350"/>
              <a:buFont typeface="Saira Condensed Medium"/>
              <a:buNone/>
            </a:pPr>
            <a:r>
              <a:t/>
            </a:r>
            <a:endParaRPr sz="1200">
              <a:solidFill>
                <a:srgbClr val="1F2B5E"/>
              </a:solidFill>
              <a:latin typeface="Saira Condensed Medium"/>
              <a:ea typeface="Saira Condensed Medium"/>
              <a:cs typeface="Saira Condensed Medium"/>
              <a:sym typeface="Saira Condensed Medium"/>
            </a:endParaRPr>
          </a:p>
        </p:txBody>
      </p:sp>
      <p:sp>
        <p:nvSpPr>
          <p:cNvPr id="35" name="Google Shape;35;p5"/>
          <p:cNvSpPr/>
          <p:nvPr/>
        </p:nvSpPr>
        <p:spPr>
          <a:xfrm>
            <a:off x="5170427" y="2800000"/>
            <a:ext cx="39735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1F2B5E"/>
              </a:buClr>
              <a:buSzPts val="8650"/>
              <a:buFont typeface="League Spartan Black"/>
              <a:buNone/>
            </a:pPr>
            <a:r>
              <a:rPr lang="en-US" sz="7500">
                <a:solidFill>
                  <a:srgbClr val="1F2B5E"/>
                </a:solidFill>
                <a:latin typeface="League Spartan Black"/>
                <a:ea typeface="League Spartan Black"/>
                <a:cs typeface="League Spartan Black"/>
                <a:sym typeface="League Spartan Black"/>
              </a:rPr>
              <a:t>1 NA 5 </a:t>
            </a:r>
            <a:endParaRPr b="0" i="0" sz="7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5"/>
          <p:cNvSpPr txBox="1"/>
          <p:nvPr/>
        </p:nvSpPr>
        <p:spPr>
          <a:xfrm>
            <a:off x="5065425" y="3555350"/>
            <a:ext cx="36213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D8232A"/>
                </a:solidFill>
                <a:latin typeface="Saira Condensed"/>
                <a:ea typeface="Saira Condensed"/>
                <a:cs typeface="Saira Condensed"/>
                <a:sym typeface="Saira Condensed"/>
              </a:rPr>
              <a:t>seniorom brakuje publicznych toalet w rejonie zamieszkania**</a:t>
            </a:r>
            <a:endParaRPr b="1" sz="1600">
              <a:solidFill>
                <a:srgbClr val="D8232A"/>
              </a:solidFill>
              <a:latin typeface="Saira Condensed"/>
              <a:ea typeface="Saira Condensed"/>
              <a:cs typeface="Saira Condensed"/>
              <a:sym typeface="Saira Condensed"/>
            </a:endParaRPr>
          </a:p>
        </p:txBody>
      </p:sp>
      <p:sp>
        <p:nvSpPr>
          <p:cNvPr id="37" name="Google Shape;37;p5"/>
          <p:cNvSpPr txBox="1"/>
          <p:nvPr/>
        </p:nvSpPr>
        <p:spPr>
          <a:xfrm>
            <a:off x="5170425" y="4248150"/>
            <a:ext cx="30000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1F2B5E"/>
                </a:solidFill>
                <a:latin typeface="Saira Condensed Medium"/>
                <a:ea typeface="Saira Condensed Medium"/>
                <a:cs typeface="Saira Condensed Medium"/>
                <a:sym typeface="Saira Condensed Medium"/>
              </a:rPr>
              <a:t>**Źródło: Badanie potrzeb i sytuacji </a:t>
            </a:r>
            <a:r>
              <a:rPr lang="en-US" sz="1200">
                <a:solidFill>
                  <a:srgbClr val="1F2B5E"/>
                </a:solidFill>
                <a:latin typeface="Saira Condensed Medium"/>
                <a:ea typeface="Saira Condensed Medium"/>
                <a:cs typeface="Saira Condensed Medium"/>
                <a:sym typeface="Saira Condensed Medium"/>
              </a:rPr>
              <a:t>życiowej</a:t>
            </a:r>
            <a:r>
              <a:rPr lang="en-US" sz="1200">
                <a:solidFill>
                  <a:srgbClr val="1F2B5E"/>
                </a:solidFill>
                <a:latin typeface="Saira Condensed Medium"/>
                <a:ea typeface="Saira Condensed Medium"/>
                <a:cs typeface="Saira Condensed Medium"/>
                <a:sym typeface="Saira Condensed Medium"/>
              </a:rPr>
              <a:t> </a:t>
            </a:r>
            <a:r>
              <a:rPr lang="en-US" sz="1200">
                <a:solidFill>
                  <a:srgbClr val="1F2B5E"/>
                </a:solidFill>
                <a:latin typeface="Saira Condensed Medium"/>
                <a:ea typeface="Saira Condensed Medium"/>
                <a:cs typeface="Saira Condensed Medium"/>
                <a:sym typeface="Saira Condensed Medium"/>
              </a:rPr>
              <a:t>seniorów</a:t>
            </a:r>
            <a:r>
              <a:rPr lang="en-US" sz="1200">
                <a:solidFill>
                  <a:srgbClr val="1F2B5E"/>
                </a:solidFill>
                <a:latin typeface="Saira Condensed Medium"/>
                <a:ea typeface="Saira Condensed Medium"/>
                <a:cs typeface="Saira Condensed Medium"/>
                <a:sym typeface="Saira Condensed Medium"/>
              </a:rPr>
              <a:t> </a:t>
            </a:r>
            <a:r>
              <a:rPr lang="en-US" sz="1200">
                <a:solidFill>
                  <a:srgbClr val="1F2B5E"/>
                </a:solidFill>
                <a:latin typeface="Saira Condensed Medium"/>
                <a:ea typeface="Saira Condensed Medium"/>
                <a:cs typeface="Saira Condensed Medium"/>
                <a:sym typeface="Saira Condensed Medium"/>
              </a:rPr>
              <a:t>mieszkających</a:t>
            </a:r>
            <a:r>
              <a:rPr lang="en-US" sz="1200">
                <a:solidFill>
                  <a:srgbClr val="1F2B5E"/>
                </a:solidFill>
                <a:latin typeface="Saira Condensed Medium"/>
                <a:ea typeface="Saira Condensed Medium"/>
                <a:cs typeface="Saira Condensed Medium"/>
                <a:sym typeface="Saira Condensed Medium"/>
              </a:rPr>
              <a:t> w Warszawie, Polska, 2025 </a:t>
            </a:r>
            <a:endParaRPr sz="1200">
              <a:solidFill>
                <a:srgbClr val="1F2B5E"/>
              </a:solidFill>
              <a:latin typeface="Saira Condensed Medium"/>
              <a:ea typeface="Saira Condensed Medium"/>
              <a:cs typeface="Saira Condensed Medium"/>
              <a:sym typeface="Saira Condensed Medium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6"/>
          <p:cNvSpPr/>
          <p:nvPr/>
        </p:nvSpPr>
        <p:spPr>
          <a:xfrm>
            <a:off x="457200" y="457200"/>
            <a:ext cx="8686800" cy="1607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D8232A"/>
              </a:buClr>
              <a:buSzPts val="950"/>
              <a:buFont typeface="Space Mono"/>
              <a:buNone/>
            </a:pPr>
            <a:r>
              <a:rPr lang="en-US" sz="950">
                <a:solidFill>
                  <a:srgbClr val="D8232A"/>
                </a:solidFill>
                <a:latin typeface="Space Mono"/>
                <a:ea typeface="Space Mono"/>
                <a:cs typeface="Space Mono"/>
                <a:sym typeface="Space Mono"/>
              </a:rPr>
              <a:t>ROZWIĄZANIE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6"/>
          <p:cNvSpPr/>
          <p:nvPr/>
        </p:nvSpPr>
        <p:spPr>
          <a:xfrm>
            <a:off x="914400" y="773460"/>
            <a:ext cx="8229600" cy="3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9000"/>
              </a:lnSpc>
              <a:spcBef>
                <a:spcPts val="0"/>
              </a:spcBef>
              <a:spcAft>
                <a:spcPts val="0"/>
              </a:spcAft>
              <a:buClr>
                <a:srgbClr val="1F2B5E"/>
              </a:buClr>
              <a:buSzPts val="2900"/>
              <a:buFont typeface="League Spartan ExtraBold"/>
              <a:buNone/>
            </a:pPr>
            <a:r>
              <a:rPr lang="en-US" sz="2900">
                <a:solidFill>
                  <a:srgbClr val="1F2B5E"/>
                </a:solidFill>
                <a:latin typeface="League Spartan ExtraBold"/>
                <a:ea typeface="League Spartan ExtraBold"/>
                <a:cs typeface="League Spartan ExtraBold"/>
                <a:sym typeface="League Spartan ExtraBold"/>
              </a:rPr>
              <a:t>APLIKACJA DO GENEROWANIA TABLICZEK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5" name="Google Shape;45;p6" title="Aplikacja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38400" y="1290935"/>
            <a:ext cx="4572000" cy="342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7"/>
          <p:cNvSpPr/>
          <p:nvPr/>
        </p:nvSpPr>
        <p:spPr>
          <a:xfrm>
            <a:off x="457200" y="457200"/>
            <a:ext cx="4114800" cy="1607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D8232A"/>
              </a:buClr>
              <a:buSzPts val="950"/>
              <a:buFont typeface="Space Mono"/>
              <a:buNone/>
            </a:pPr>
            <a:r>
              <a:rPr b="0" i="0" lang="en-US" sz="950" u="none" cap="none" strike="noStrike">
                <a:solidFill>
                  <a:srgbClr val="D8232A"/>
                </a:solidFill>
                <a:latin typeface="Space Mono"/>
                <a:ea typeface="Space Mono"/>
                <a:cs typeface="Space Mono"/>
                <a:sym typeface="Space Mono"/>
              </a:rPr>
              <a:t>ROZWIĄZANIE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7"/>
          <p:cNvSpPr/>
          <p:nvPr/>
        </p:nvSpPr>
        <p:spPr>
          <a:xfrm>
            <a:off x="457200" y="748010"/>
            <a:ext cx="36576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9000"/>
              </a:lnSpc>
              <a:spcBef>
                <a:spcPts val="0"/>
              </a:spcBef>
              <a:spcAft>
                <a:spcPts val="0"/>
              </a:spcAft>
              <a:buClr>
                <a:srgbClr val="1F2B5E"/>
              </a:buClr>
              <a:buSzPts val="2900"/>
              <a:buFont typeface="League Spartan ExtraBold"/>
              <a:buNone/>
            </a:pPr>
            <a:r>
              <a:rPr b="0" i="0" lang="en-US" sz="2900" u="none" cap="none" strike="noStrike">
                <a:solidFill>
                  <a:srgbClr val="1F2B5E"/>
                </a:solidFill>
                <a:latin typeface="League Spartan ExtraBold"/>
                <a:ea typeface="League Spartan ExtraBold"/>
                <a:cs typeface="League Spartan ExtraBold"/>
                <a:sym typeface="League Spartan ExtraBold"/>
              </a:rPr>
              <a:t>KARTKA NA PRZYSTANKU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7"/>
          <p:cNvSpPr/>
          <p:nvPr/>
        </p:nvSpPr>
        <p:spPr>
          <a:xfrm>
            <a:off x="522122" y="2399400"/>
            <a:ext cx="2881500" cy="6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232A"/>
              </a:buClr>
              <a:buSzPts val="1600"/>
              <a:buFont typeface="Saira Condensed"/>
              <a:buNone/>
            </a:pPr>
            <a:r>
              <a:rPr b="1" i="0" lang="en-US" sz="1600" u="none" cap="none" strike="noStrike">
                <a:solidFill>
                  <a:srgbClr val="D8232A"/>
                </a:solidFill>
                <a:latin typeface="Saira Condensed"/>
                <a:ea typeface="Saira Condensed"/>
                <a:cs typeface="Saira Condensed"/>
                <a:sym typeface="Saira Condensed"/>
              </a:rPr>
              <a:t>GENERUJEMY JĄ AUTOMATYCZNIE DLA KAŻDEGO Z OK. </a:t>
            </a:r>
            <a:r>
              <a:rPr b="1" lang="en-US" sz="1600">
                <a:solidFill>
                  <a:srgbClr val="D8232A"/>
                </a:solidFill>
                <a:latin typeface="Saira Condensed"/>
                <a:ea typeface="Saira Condensed"/>
                <a:cs typeface="Saira Condensed"/>
                <a:sym typeface="Saira Condensed"/>
              </a:rPr>
              <a:t>4</a:t>
            </a:r>
            <a:r>
              <a:rPr b="1" i="0" lang="en-US" sz="1600" u="none" cap="none" strike="noStrike">
                <a:solidFill>
                  <a:srgbClr val="D8232A"/>
                </a:solidFill>
                <a:latin typeface="Saira Condensed"/>
                <a:ea typeface="Saira Condensed"/>
                <a:cs typeface="Saira Condensed"/>
                <a:sym typeface="Saira Condensed"/>
              </a:rPr>
              <a:t> </a:t>
            </a:r>
            <a:r>
              <a:rPr b="1" lang="en-US" sz="1600">
                <a:solidFill>
                  <a:srgbClr val="D8232A"/>
                </a:solidFill>
                <a:latin typeface="Saira Condensed"/>
                <a:ea typeface="Saira Condensed"/>
                <a:cs typeface="Saira Condensed"/>
                <a:sym typeface="Saira Condensed"/>
              </a:rPr>
              <a:t>4</a:t>
            </a:r>
            <a:r>
              <a:rPr b="1" i="0" lang="en-US" sz="1600" u="none" cap="none" strike="noStrike">
                <a:solidFill>
                  <a:srgbClr val="D8232A"/>
                </a:solidFill>
                <a:latin typeface="Saira Condensed"/>
                <a:ea typeface="Saira Condensed"/>
                <a:cs typeface="Saira Condensed"/>
                <a:sym typeface="Saira Condensed"/>
              </a:rPr>
              <a:t>00 SŁUPKÓW W WARSZAWIE, Z OTWARTYCH DANYCH MIASTA</a:t>
            </a:r>
            <a:r>
              <a:rPr b="1" lang="en-US" sz="1600">
                <a:solidFill>
                  <a:srgbClr val="D8232A"/>
                </a:solidFill>
                <a:latin typeface="Saira Condensed"/>
                <a:ea typeface="Saira Condensed"/>
                <a:cs typeface="Saira Condensed"/>
                <a:sym typeface="Saira Condensed"/>
              </a:rPr>
              <a:t> (TOALETY I PRZYSTANKI)</a:t>
            </a:r>
            <a:endParaRPr b="1" i="0" sz="1600" u="none" cap="none" strike="noStrike">
              <a:solidFill>
                <a:srgbClr val="D8232A"/>
              </a:solidFill>
              <a:latin typeface="Saira Condensed"/>
              <a:ea typeface="Saira Condensed"/>
              <a:cs typeface="Saira Condensed"/>
              <a:sym typeface="Saira Condensed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232A"/>
              </a:buClr>
              <a:buSzPts val="1600"/>
              <a:buFont typeface="Saira Condensed"/>
              <a:buNone/>
            </a:pPr>
            <a:r>
              <a:t/>
            </a:r>
            <a:endParaRPr b="1" sz="1600">
              <a:solidFill>
                <a:srgbClr val="D8232A"/>
              </a:solidFill>
              <a:latin typeface="Saira Condensed"/>
              <a:ea typeface="Saira Condensed"/>
              <a:cs typeface="Saira Condensed"/>
              <a:sym typeface="Saira Condensed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232A"/>
              </a:buClr>
              <a:buSzPts val="1600"/>
              <a:buFont typeface="Saira Condensed"/>
              <a:buNone/>
            </a:pPr>
            <a:r>
              <a:t/>
            </a:r>
            <a:endParaRPr b="1" sz="1600">
              <a:solidFill>
                <a:srgbClr val="D8232A"/>
              </a:solidFill>
              <a:latin typeface="Saira Condensed"/>
              <a:ea typeface="Saira Condensed"/>
              <a:cs typeface="Saira Condensed"/>
              <a:sym typeface="Saira Condensed"/>
            </a:endParaRPr>
          </a:p>
        </p:txBody>
      </p:sp>
      <p:pic>
        <p:nvPicPr>
          <p:cNvPr id="54" name="Google Shape;54;p7"/>
          <p:cNvPicPr preferRelativeResize="0"/>
          <p:nvPr/>
        </p:nvPicPr>
        <p:blipFill rotWithShape="1">
          <a:blip r:embed="rId3">
            <a:alphaModFix/>
          </a:blip>
          <a:srcRect b="0" l="0" r="1565" t="0"/>
          <a:stretch/>
        </p:blipFill>
        <p:spPr>
          <a:xfrm>
            <a:off x="4524375" y="202450"/>
            <a:ext cx="3429000" cy="473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/>
          <p:nvPr/>
        </p:nvSpPr>
        <p:spPr>
          <a:xfrm>
            <a:off x="4419600" y="1126927"/>
            <a:ext cx="4724400" cy="1607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D8232A"/>
              </a:buClr>
              <a:buSzPts val="950"/>
              <a:buFont typeface="Space Mono"/>
              <a:buNone/>
            </a:pPr>
            <a:r>
              <a:rPr b="0" i="0" lang="en-US" sz="950" u="none" cap="none" strike="noStrike">
                <a:solidFill>
                  <a:srgbClr val="D8232A"/>
                </a:solidFill>
                <a:latin typeface="Space Mono"/>
                <a:ea typeface="Space Mono"/>
                <a:cs typeface="Space Mono"/>
                <a:sym typeface="Space Mono"/>
              </a:rPr>
              <a:t>CZYM SIĘ RÓŻNIMY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8"/>
          <p:cNvSpPr/>
          <p:nvPr/>
        </p:nvSpPr>
        <p:spPr>
          <a:xfrm>
            <a:off x="4419600" y="1417737"/>
            <a:ext cx="42672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9000"/>
              </a:lnSpc>
              <a:spcBef>
                <a:spcPts val="0"/>
              </a:spcBef>
              <a:spcAft>
                <a:spcPts val="0"/>
              </a:spcAft>
              <a:buClr>
                <a:srgbClr val="1F2B5E"/>
              </a:buClr>
              <a:buSzPts val="2900"/>
              <a:buFont typeface="League Spartan ExtraBold"/>
              <a:buNone/>
            </a:pPr>
            <a:r>
              <a:rPr b="0" i="0" lang="en-US" sz="2900" u="none" cap="none" strike="noStrike">
                <a:solidFill>
                  <a:srgbClr val="1F2B5E"/>
                </a:solidFill>
                <a:latin typeface="League Spartan ExtraBold"/>
                <a:ea typeface="League Spartan ExtraBold"/>
                <a:cs typeface="League Spartan ExtraBold"/>
                <a:sym typeface="League Spartan ExtraBold"/>
              </a:rPr>
              <a:t>A GOOGLE MAPS? A 350 TABLICZEK Z QR?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8"/>
          <p:cNvSpPr/>
          <p:nvPr/>
        </p:nvSpPr>
        <p:spPr>
          <a:xfrm>
            <a:off x="4419600" y="2233017"/>
            <a:ext cx="2019300" cy="28575"/>
          </a:xfrm>
          <a:prstGeom prst="rect">
            <a:avLst/>
          </a:prstGeom>
          <a:solidFill>
            <a:srgbClr val="1F2B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8"/>
          <p:cNvSpPr/>
          <p:nvPr/>
        </p:nvSpPr>
        <p:spPr>
          <a:xfrm>
            <a:off x="4591050" y="2433042"/>
            <a:ext cx="1676400" cy="534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B5E"/>
              </a:buClr>
              <a:buSzPts val="1950"/>
              <a:buFont typeface="Saira Condensed"/>
              <a:buNone/>
            </a:pPr>
            <a:r>
              <a:rPr b="1" i="0" lang="en-US" sz="1950" u="none" cap="none" strike="noStrike">
                <a:solidFill>
                  <a:srgbClr val="1F2B5E"/>
                </a:solidFill>
                <a:latin typeface="Saira Condensed"/>
                <a:ea typeface="Saira Condensed"/>
                <a:cs typeface="Saira Condensed"/>
                <a:sym typeface="Saira Condensed"/>
              </a:rPr>
              <a:t>NIE TRZEBA TELEFONU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8"/>
          <p:cNvSpPr/>
          <p:nvPr/>
        </p:nvSpPr>
        <p:spPr>
          <a:xfrm>
            <a:off x="4591050" y="3089374"/>
            <a:ext cx="1676400" cy="7557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1F2B5E"/>
              </a:buClr>
              <a:buSzPts val="1150"/>
              <a:buFont typeface="Saira Condensed Medium"/>
              <a:buNone/>
            </a:pPr>
            <a:r>
              <a:rPr lang="en-US" sz="1150">
                <a:solidFill>
                  <a:srgbClr val="1F2B5E"/>
                </a:solidFill>
                <a:latin typeface="Saira Condensed Medium"/>
                <a:ea typeface="Saira Condensed Medium"/>
                <a:cs typeface="Saira Condensed Medium"/>
                <a:sym typeface="Saira Condensed Medium"/>
              </a:rPr>
              <a:t>2 z 5 </a:t>
            </a:r>
            <a:r>
              <a:rPr lang="en-US" sz="1150">
                <a:solidFill>
                  <a:srgbClr val="1F2B5E"/>
                </a:solidFill>
                <a:latin typeface="Saira Condensed Medium"/>
                <a:ea typeface="Saira Condensed Medium"/>
                <a:cs typeface="Saira Condensed Medium"/>
                <a:sym typeface="Saira Condensed Medium"/>
              </a:rPr>
              <a:t>osób</a:t>
            </a:r>
            <a:r>
              <a:rPr lang="en-US" sz="1150">
                <a:solidFill>
                  <a:srgbClr val="1F2B5E"/>
                </a:solidFill>
                <a:latin typeface="Saira Condensed Medium"/>
                <a:ea typeface="Saira Condensed Medium"/>
                <a:cs typeface="Saira Condensed Medium"/>
                <a:sym typeface="Saira Condensed Medium"/>
              </a:rPr>
              <a:t> po 65 roku </a:t>
            </a:r>
            <a:r>
              <a:rPr lang="en-US" sz="1150">
                <a:solidFill>
                  <a:srgbClr val="1F2B5E"/>
                </a:solidFill>
                <a:latin typeface="Saira Condensed Medium"/>
                <a:ea typeface="Saira Condensed Medium"/>
                <a:cs typeface="Saira Condensed Medium"/>
                <a:sym typeface="Saira Condensed Medium"/>
              </a:rPr>
              <a:t>życia</a:t>
            </a:r>
            <a:r>
              <a:rPr lang="en-US" sz="1150">
                <a:solidFill>
                  <a:srgbClr val="1F2B5E"/>
                </a:solidFill>
                <a:latin typeface="Saira Condensed Medium"/>
                <a:ea typeface="Saira Condensed Medium"/>
                <a:cs typeface="Saira Condensed Medium"/>
                <a:sym typeface="Saira Condensed Medium"/>
              </a:rPr>
              <a:t> nie korzysta z internetu</a:t>
            </a:r>
            <a:endParaRPr sz="1150">
              <a:solidFill>
                <a:srgbClr val="1F2B5E"/>
              </a:solidFill>
              <a:latin typeface="Saira Condensed Medium"/>
              <a:ea typeface="Saira Condensed Medium"/>
              <a:cs typeface="Saira Condensed Medium"/>
              <a:sym typeface="Saira Condensed Medium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1F2B5E"/>
              </a:buClr>
              <a:buSzPts val="1150"/>
              <a:buFont typeface="Saira Condensed Medium"/>
              <a:buNone/>
            </a:pPr>
            <a:r>
              <a:t/>
            </a:r>
            <a:endParaRPr sz="1150">
              <a:solidFill>
                <a:srgbClr val="1F2B5E"/>
              </a:solidFill>
              <a:latin typeface="Saira Condensed Medium"/>
              <a:ea typeface="Saira Condensed Medium"/>
              <a:cs typeface="Saira Condensed Medium"/>
              <a:sym typeface="Saira Condensed Medium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1F2B5E"/>
              </a:buClr>
              <a:buSzPts val="1150"/>
              <a:buFont typeface="Saira Condensed Medium"/>
              <a:buNone/>
            </a:pPr>
            <a:r>
              <a:rPr lang="en-US" sz="800">
                <a:solidFill>
                  <a:srgbClr val="1F2B5E"/>
                </a:solidFill>
                <a:latin typeface="Saira Condensed Medium"/>
                <a:ea typeface="Saira Condensed Medium"/>
                <a:cs typeface="Saira Condensed Medium"/>
                <a:sym typeface="Saira Condensed Medium"/>
              </a:rPr>
              <a:t>*Źródło: CBOS,”Korzystanie z internetu w 2026 roku”, 2026</a:t>
            </a:r>
            <a:endParaRPr sz="800">
              <a:solidFill>
                <a:srgbClr val="1F2B5E"/>
              </a:solidFill>
              <a:latin typeface="Saira Condensed Medium"/>
              <a:ea typeface="Saira Condensed Medium"/>
              <a:cs typeface="Saira Condensed Medium"/>
              <a:sym typeface="Saira Condensed Medium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1F2B5E"/>
              </a:buClr>
              <a:buSzPts val="1150"/>
              <a:buFont typeface="Saira Condensed Medium"/>
              <a:buNone/>
            </a:pPr>
            <a:r>
              <a:t/>
            </a:r>
            <a:endParaRPr sz="1150">
              <a:solidFill>
                <a:srgbClr val="1F2B5E"/>
              </a:solidFill>
              <a:latin typeface="Saira Condensed Medium"/>
              <a:ea typeface="Saira Condensed Medium"/>
              <a:cs typeface="Saira Condensed Medium"/>
              <a:sym typeface="Saira Condensed Medium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1F2B5E"/>
              </a:buClr>
              <a:buSzPts val="1150"/>
              <a:buFont typeface="Saira Condensed Medium"/>
              <a:buNone/>
            </a:pPr>
            <a:r>
              <a:t/>
            </a:r>
            <a:endParaRPr sz="1150">
              <a:solidFill>
                <a:srgbClr val="1F2B5E"/>
              </a:solidFill>
              <a:latin typeface="Saira Condensed Medium"/>
              <a:ea typeface="Saira Condensed Medium"/>
              <a:cs typeface="Saira Condensed Medium"/>
              <a:sym typeface="Saira Condensed Medium"/>
            </a:endParaRPr>
          </a:p>
        </p:txBody>
      </p:sp>
      <p:sp>
        <p:nvSpPr>
          <p:cNvPr id="65" name="Google Shape;65;p8"/>
          <p:cNvSpPr/>
          <p:nvPr/>
        </p:nvSpPr>
        <p:spPr>
          <a:xfrm>
            <a:off x="6667500" y="2233017"/>
            <a:ext cx="2019300" cy="28575"/>
          </a:xfrm>
          <a:prstGeom prst="rect">
            <a:avLst/>
          </a:prstGeom>
          <a:solidFill>
            <a:srgbClr val="1F2B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8"/>
          <p:cNvSpPr/>
          <p:nvPr/>
        </p:nvSpPr>
        <p:spPr>
          <a:xfrm>
            <a:off x="6838950" y="2433042"/>
            <a:ext cx="1676400" cy="534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B5E"/>
              </a:buClr>
              <a:buSzPts val="1950"/>
              <a:buFont typeface="Saira Condensed"/>
              <a:buNone/>
            </a:pPr>
            <a:r>
              <a:rPr b="1" i="0" lang="en-US" sz="1950" u="none" cap="none" strike="noStrike">
                <a:solidFill>
                  <a:srgbClr val="1F2B5E"/>
                </a:solidFill>
                <a:latin typeface="Saira Condensed"/>
                <a:ea typeface="Saira Condensed"/>
                <a:cs typeface="Saira Condensed"/>
                <a:sym typeface="Saira Condensed"/>
              </a:rPr>
              <a:t>JESTEŚMY TAM, GDZIE SIĘ CZEKA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8"/>
          <p:cNvSpPr/>
          <p:nvPr/>
        </p:nvSpPr>
        <p:spPr>
          <a:xfrm>
            <a:off x="6838950" y="3089374"/>
            <a:ext cx="1676400" cy="7557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1F2B5E"/>
              </a:buClr>
              <a:buSzPts val="1150"/>
              <a:buFont typeface="Saira Condensed Medium"/>
              <a:buNone/>
            </a:pPr>
            <a:r>
              <a:rPr b="0" i="0" lang="en-US" sz="1150" u="none" cap="none" strike="noStrike">
                <a:solidFill>
                  <a:srgbClr val="1F2B5E"/>
                </a:solidFill>
                <a:latin typeface="Saira Condensed Medium"/>
                <a:ea typeface="Saira Condensed Medium"/>
                <a:cs typeface="Saira Condensed Medium"/>
                <a:sym typeface="Saira Condensed Medium"/>
              </a:rPr>
              <a:t>Każda podróż komunikacją zaczyna się i kończy na przystanku. Tam jest czas, żeby przeczytać kartkę.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8" name="Google Shape;68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0025" y="3326675"/>
            <a:ext cx="2462675" cy="1628774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8"/>
          <p:cNvSpPr/>
          <p:nvPr/>
        </p:nvSpPr>
        <p:spPr>
          <a:xfrm>
            <a:off x="552450" y="3578350"/>
            <a:ext cx="304800" cy="314400"/>
          </a:xfrm>
          <a:prstGeom prst="ellipse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0" name="Google Shape;70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50412" y="2084476"/>
            <a:ext cx="1581488" cy="2870975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8"/>
          <p:cNvSpPr/>
          <p:nvPr/>
        </p:nvSpPr>
        <p:spPr>
          <a:xfrm>
            <a:off x="3095625" y="2233025"/>
            <a:ext cx="1181100" cy="439800"/>
          </a:xfrm>
          <a:prstGeom prst="ellipse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" name="Google Shape;72;p8" title="Screenshot 2026-10-18 at 08.49.55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0024" y="1979750"/>
            <a:ext cx="2462675" cy="118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8" title="Screenshot 2026-10-18 at 08.51.57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00025" y="1204000"/>
            <a:ext cx="4152901" cy="66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9"/>
          <p:cNvSpPr/>
          <p:nvPr/>
        </p:nvSpPr>
        <p:spPr>
          <a:xfrm>
            <a:off x="457200" y="457200"/>
            <a:ext cx="8686800" cy="1607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D8232A"/>
              </a:buClr>
              <a:buSzPts val="950"/>
              <a:buFont typeface="Space Mono"/>
              <a:buNone/>
            </a:pPr>
            <a:r>
              <a:rPr b="0" i="0" lang="en-US" sz="950" u="none" cap="none" strike="noStrike">
                <a:solidFill>
                  <a:srgbClr val="D8232A"/>
                </a:solidFill>
                <a:latin typeface="Space Mono"/>
                <a:ea typeface="Space Mono"/>
                <a:cs typeface="Space Mono"/>
                <a:sym typeface="Space Mono"/>
              </a:rPr>
              <a:t>CO POKAZAŁY DANE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9"/>
          <p:cNvSpPr/>
          <p:nvPr/>
        </p:nvSpPr>
        <p:spPr>
          <a:xfrm>
            <a:off x="457200" y="748010"/>
            <a:ext cx="82296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9000"/>
              </a:lnSpc>
              <a:spcBef>
                <a:spcPts val="0"/>
              </a:spcBef>
              <a:spcAft>
                <a:spcPts val="0"/>
              </a:spcAft>
              <a:buClr>
                <a:srgbClr val="1F2B5E"/>
              </a:buClr>
              <a:buSzPts val="2900"/>
              <a:buFont typeface="League Spartan ExtraBold"/>
              <a:buNone/>
            </a:pPr>
            <a:r>
              <a:rPr b="0" i="0" lang="en-US" sz="2900" u="none" cap="none" strike="noStrike">
                <a:solidFill>
                  <a:srgbClr val="1F2B5E"/>
                </a:solidFill>
                <a:latin typeface="League Spartan ExtraBold"/>
                <a:ea typeface="League Spartan ExtraBold"/>
                <a:cs typeface="League Spartan ExtraBold"/>
                <a:sym typeface="League Spartan ExtraBold"/>
              </a:rPr>
              <a:t>Z ILU PRZYSTANKÓW SENIOR DOJDZIE W 10 MINUT DO BEZPŁATNEJ, DOSTĘPNEJ TOALETY?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9"/>
          <p:cNvSpPr/>
          <p:nvPr/>
        </p:nvSpPr>
        <p:spPr>
          <a:xfrm>
            <a:off x="7038975" y="2636025"/>
            <a:ext cx="1790700" cy="7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1F2B5E"/>
              </a:buClr>
              <a:buSzPts val="1150"/>
              <a:buFont typeface="Saira Condensed"/>
              <a:buNone/>
            </a:pPr>
            <a:r>
              <a:rPr b="1" i="0" lang="en-US" sz="1150" u="none" cap="none" strike="noStrike">
                <a:solidFill>
                  <a:srgbClr val="1F2B5E"/>
                </a:solidFill>
                <a:latin typeface="Saira Condensed"/>
                <a:ea typeface="Saira Condensed"/>
                <a:cs typeface="Saira Condensed"/>
                <a:sym typeface="Saira Condensed"/>
              </a:rPr>
              <a:t>Koszt:</a:t>
            </a:r>
            <a:r>
              <a:rPr b="0" i="0" lang="en-US" sz="1150" u="none" cap="none" strike="noStrike">
                <a:solidFill>
                  <a:srgbClr val="1F2B5E"/>
                </a:solidFill>
                <a:latin typeface="Saira Condensed Medium"/>
                <a:ea typeface="Saira Condensed Medium"/>
                <a:cs typeface="Saira Condensed Medium"/>
                <a:sym typeface="Saira Condensed Medium"/>
              </a:rPr>
              <a:t> druk kartki A4 do ramki, która już wisi</a:t>
            </a:r>
            <a:endParaRPr b="0" i="0" sz="1150" u="none" cap="none" strike="noStrike">
              <a:solidFill>
                <a:srgbClr val="1F2B5E"/>
              </a:solidFill>
              <a:latin typeface="Saira Condensed Medium"/>
              <a:ea typeface="Saira Condensed Medium"/>
              <a:cs typeface="Saira Condensed Medium"/>
              <a:sym typeface="Saira Condensed Medium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1F2B5E"/>
              </a:buClr>
              <a:buSzPts val="1150"/>
              <a:buFont typeface="Saira Condensed"/>
              <a:buNone/>
            </a:pPr>
            <a:r>
              <a:rPr lang="en-US" sz="11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1F2B5E"/>
              </a:buClr>
              <a:buSzPts val="1150"/>
              <a:buFont typeface="Saira Condensed"/>
              <a:buNone/>
            </a:pPr>
            <a:r>
              <a:rPr b="1" i="0" lang="en-US" sz="1150" u="none" cap="none" strike="noStrike">
                <a:solidFill>
                  <a:srgbClr val="1F2B5E"/>
                </a:solidFill>
                <a:latin typeface="Saira Condensed"/>
                <a:ea typeface="Saira Condensed"/>
                <a:cs typeface="Saira Condensed"/>
                <a:sym typeface="Saira Condensed"/>
              </a:rPr>
              <a:t>Błąd?</a:t>
            </a:r>
            <a:r>
              <a:rPr b="0" i="0" lang="en-US" sz="1150" u="none" cap="none" strike="noStrike">
                <a:solidFill>
                  <a:srgbClr val="1F2B5E"/>
                </a:solidFill>
                <a:latin typeface="Saira Condensed Medium"/>
                <a:ea typeface="Saira Condensed Medium"/>
                <a:cs typeface="Saira Condensed Medium"/>
                <a:sym typeface="Saira Condensed Medium"/>
              </a:rPr>
              <a:t> Numer przystanku i 19115</a:t>
            </a:r>
            <a:r>
              <a:rPr lang="en-US" sz="1150">
                <a:solidFill>
                  <a:srgbClr val="1F2B5E"/>
                </a:solidFill>
                <a:latin typeface="Saira Condensed Medium"/>
                <a:ea typeface="Saira Condensed Medium"/>
                <a:cs typeface="Saira Condensed Medium"/>
                <a:sym typeface="Saira Condensed Medium"/>
              </a:rPr>
              <a:t>           </a:t>
            </a:r>
            <a:endParaRPr sz="1150">
              <a:solidFill>
                <a:srgbClr val="1F2B5E"/>
              </a:solidFill>
              <a:latin typeface="Saira Condensed Medium"/>
              <a:ea typeface="Saira Condensed Medium"/>
              <a:cs typeface="Saira Condensed Medium"/>
              <a:sym typeface="Saira Condensed Medium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1F2B5E"/>
              </a:buClr>
              <a:buSzPts val="1150"/>
              <a:buFont typeface="Saira Condensed"/>
              <a:buNone/>
            </a:pPr>
            <a:r>
              <a:t/>
            </a:r>
            <a:endParaRPr sz="1150">
              <a:solidFill>
                <a:srgbClr val="1F2B5E"/>
              </a:solidFill>
              <a:latin typeface="Saira Condensed Medium"/>
              <a:ea typeface="Saira Condensed Medium"/>
              <a:cs typeface="Saira Condensed Medium"/>
              <a:sym typeface="Saira Condensed Medium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1F2B5E"/>
              </a:buClr>
              <a:buSzPts val="1150"/>
              <a:buFont typeface="Saira Condensed"/>
              <a:buNone/>
            </a:pPr>
            <a:r>
              <a:rPr b="1" lang="en-US" sz="1150">
                <a:solidFill>
                  <a:srgbClr val="1F2B5E"/>
                </a:solidFill>
                <a:latin typeface="Saira Condensed"/>
                <a:ea typeface="Saira Condensed"/>
                <a:cs typeface="Saira Condensed"/>
                <a:sym typeface="Saira Condensed"/>
              </a:rPr>
              <a:t>Reszta </a:t>
            </a:r>
            <a:r>
              <a:rPr b="1" lang="en-US" sz="1150">
                <a:solidFill>
                  <a:srgbClr val="1F2B5E"/>
                </a:solidFill>
                <a:latin typeface="Saira Condensed"/>
                <a:ea typeface="Saira Condensed"/>
                <a:cs typeface="Saira Condensed"/>
                <a:sym typeface="Saira Condensed"/>
              </a:rPr>
              <a:t>przystanków:</a:t>
            </a:r>
            <a:r>
              <a:rPr lang="en-US" sz="1150">
                <a:solidFill>
                  <a:srgbClr val="1F2B5E"/>
                </a:solidFill>
                <a:latin typeface="Saira Condensed Medium"/>
                <a:ea typeface="Saira Condensed Medium"/>
                <a:cs typeface="Saira Condensed Medium"/>
                <a:sym typeface="Saira Condensed Medium"/>
              </a:rPr>
              <a:t> </a:t>
            </a:r>
            <a:r>
              <a:rPr lang="en-US" sz="1150">
                <a:solidFill>
                  <a:srgbClr val="1F2B5E"/>
                </a:solidFill>
                <a:latin typeface="Saira Condensed Medium"/>
                <a:ea typeface="Saira Condensed Medium"/>
                <a:cs typeface="Saira Condensed Medium"/>
                <a:sym typeface="Saira Condensed Medium"/>
              </a:rPr>
              <a:t>potencjał</a:t>
            </a:r>
            <a:r>
              <a:rPr lang="en-US" sz="1150">
                <a:solidFill>
                  <a:srgbClr val="1F2B5E"/>
                </a:solidFill>
                <a:latin typeface="Saira Condensed Medium"/>
                <a:ea typeface="Saira Condensed Medium"/>
                <a:cs typeface="Saira Condensed Medium"/>
                <a:sym typeface="Saira Condensed Medium"/>
              </a:rPr>
              <a:t> kolaboracji z </a:t>
            </a:r>
            <a:r>
              <a:rPr lang="en-US" sz="1150">
                <a:solidFill>
                  <a:srgbClr val="1F2B5E"/>
                </a:solidFill>
                <a:latin typeface="Saira Condensed Medium"/>
                <a:ea typeface="Saira Condensed Medium"/>
                <a:cs typeface="Saira Condensed Medium"/>
                <a:sym typeface="Saira Condensed Medium"/>
              </a:rPr>
              <a:t>restauracjami i kawiarniami, zamiast drogich toalet</a:t>
            </a:r>
            <a:endParaRPr sz="1150">
              <a:solidFill>
                <a:srgbClr val="1F2B5E"/>
              </a:solidFill>
              <a:latin typeface="Saira Condensed Medium"/>
              <a:ea typeface="Saira Condensed Medium"/>
              <a:cs typeface="Saira Condensed Medium"/>
              <a:sym typeface="Saira Condensed Medium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750"/>
              </a:spcBef>
              <a:spcAft>
                <a:spcPts val="0"/>
              </a:spcAft>
              <a:buClr>
                <a:srgbClr val="1F2B5E"/>
              </a:buClr>
              <a:buSzPts val="1150"/>
              <a:buFont typeface="Saira Condensed"/>
              <a:buNone/>
            </a:pPr>
            <a:r>
              <a:t/>
            </a:r>
            <a:endParaRPr sz="1150">
              <a:solidFill>
                <a:srgbClr val="1F2B5E"/>
              </a:solidFill>
              <a:latin typeface="Saira Condensed Medium"/>
              <a:ea typeface="Saira Condensed Medium"/>
              <a:cs typeface="Saira Condensed Medium"/>
              <a:sym typeface="Saira Condensed Medium"/>
            </a:endParaRPr>
          </a:p>
        </p:txBody>
      </p:sp>
      <p:pic>
        <p:nvPicPr>
          <p:cNvPr id="82" name="Google Shape;82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2405360"/>
            <a:ext cx="6346655" cy="19523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0"/>
          <p:cNvSpPr/>
          <p:nvPr/>
        </p:nvSpPr>
        <p:spPr>
          <a:xfrm>
            <a:off x="457200" y="557361"/>
            <a:ext cx="1819126" cy="287982"/>
          </a:xfrm>
          <a:prstGeom prst="roundRect">
            <a:avLst>
              <a:gd fmla="val 7144" name="adj"/>
            </a:avLst>
          </a:prstGeom>
          <a:solidFill>
            <a:srgbClr val="D9DE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0"/>
          <p:cNvSpPr/>
          <p:nvPr/>
        </p:nvSpPr>
        <p:spPr>
          <a:xfrm>
            <a:off x="560040" y="608781"/>
            <a:ext cx="2070646" cy="1851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1F2B5E"/>
              </a:buClr>
              <a:buSzPts val="1100"/>
              <a:buFont typeface="Space Mono"/>
              <a:buNone/>
            </a:pPr>
            <a:r>
              <a:rPr b="0" i="0" lang="en-US" sz="1100" u="none" cap="none" strike="noStrike">
                <a:solidFill>
                  <a:srgbClr val="1F2B5E"/>
                </a:solidFill>
                <a:latin typeface="Space Mono"/>
                <a:ea typeface="Space Mono"/>
                <a:cs typeface="Space Mono"/>
                <a:sym typeface="Space Mono"/>
              </a:rPr>
              <a:t>KAŻDY CZASEM MUSI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0"/>
          <p:cNvSpPr/>
          <p:nvPr/>
        </p:nvSpPr>
        <p:spPr>
          <a:xfrm>
            <a:off x="457200" y="1071563"/>
            <a:ext cx="4876800" cy="1543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1F2B5E"/>
              </a:buClr>
              <a:buSzPts val="4250"/>
              <a:buFont typeface="League Spartan Black"/>
              <a:buNone/>
            </a:pPr>
            <a:r>
              <a:rPr b="0" i="0" lang="en-US" sz="4250" u="none" cap="none" strike="noStrike">
                <a:solidFill>
                  <a:srgbClr val="1F2B5E"/>
                </a:solidFill>
                <a:latin typeface="League Spartan Black"/>
                <a:ea typeface="League Spartan Black"/>
                <a:cs typeface="League Spartan Black"/>
                <a:sym typeface="League Spartan Black"/>
              </a:rPr>
              <a:t>SENIOR, DZIECKO I PREZES NA CITY BREAKU.</a:t>
            </a:r>
            <a:endParaRPr b="0" i="0" sz="4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0"/>
          <p:cNvSpPr/>
          <p:nvPr/>
        </p:nvSpPr>
        <p:spPr>
          <a:xfrm>
            <a:off x="457200" y="2636044"/>
            <a:ext cx="4876800" cy="28575"/>
          </a:xfrm>
          <a:prstGeom prst="rect">
            <a:avLst/>
          </a:prstGeom>
          <a:solidFill>
            <a:srgbClr val="1F2B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0"/>
          <p:cNvSpPr/>
          <p:nvPr/>
        </p:nvSpPr>
        <p:spPr>
          <a:xfrm>
            <a:off x="628650" y="2887504"/>
            <a:ext cx="45339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1F2B5E"/>
              </a:buClr>
              <a:buSzPts val="2250"/>
              <a:buFont typeface="League Spartan Black"/>
              <a:buNone/>
            </a:pPr>
            <a:r>
              <a:rPr b="0" i="0" lang="en-US" sz="2250" u="none" cap="none" strike="noStrike">
                <a:solidFill>
                  <a:srgbClr val="1F2B5E"/>
                </a:solidFill>
                <a:latin typeface="League Spartan Black"/>
                <a:ea typeface="League Spartan Black"/>
                <a:cs typeface="League Spartan Black"/>
                <a:sym typeface="League Spartan Black"/>
              </a:rPr>
              <a:t>8,7 MLN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0"/>
          <p:cNvSpPr/>
          <p:nvPr/>
        </p:nvSpPr>
        <p:spPr>
          <a:xfrm>
            <a:off x="1821325" y="2922703"/>
            <a:ext cx="4533900" cy="3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1F2B5E"/>
              </a:buClr>
              <a:buSzPts val="1150"/>
              <a:buFont typeface="Saira Condensed Medium"/>
              <a:buNone/>
            </a:pPr>
            <a:r>
              <a:rPr b="0" i="0" lang="en-US" sz="1150" u="none" cap="none" strike="noStrike">
                <a:solidFill>
                  <a:srgbClr val="1F2B5E"/>
                </a:solidFill>
                <a:latin typeface="Saira Condensed Medium"/>
                <a:ea typeface="Saira Condensed Medium"/>
                <a:cs typeface="Saira Condensed Medium"/>
                <a:sym typeface="Saira Condensed Medium"/>
              </a:rPr>
              <a:t>turystów rocznie odwiedza Warszawę*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t/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750"/>
              </a:spcBef>
              <a:spcAft>
                <a:spcPts val="0"/>
              </a:spcAft>
              <a:buClr>
                <a:srgbClr val="1F2B5E"/>
              </a:buClr>
              <a:buSzPts val="1150"/>
              <a:buFont typeface="Saira Condensed Medium"/>
              <a:buNone/>
            </a:pPr>
            <a:r>
              <a:t/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4" name="Google Shape;9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48400" y="1352550"/>
            <a:ext cx="2438400" cy="24384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0"/>
          <p:cNvSpPr/>
          <p:nvPr/>
        </p:nvSpPr>
        <p:spPr>
          <a:xfrm>
            <a:off x="560050" y="3721878"/>
            <a:ext cx="4533900" cy="7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t/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750"/>
              </a:spcBef>
              <a:spcAft>
                <a:spcPts val="0"/>
              </a:spcAft>
              <a:buClr>
                <a:srgbClr val="1F2B5E"/>
              </a:buClr>
              <a:buSzPts val="1150"/>
              <a:buFont typeface="Saira Condensed Medium"/>
              <a:buNone/>
            </a:pPr>
            <a:r>
              <a:rPr b="1" lang="en-US" sz="1150">
                <a:solidFill>
                  <a:srgbClr val="1F2B5E"/>
                </a:solidFill>
                <a:latin typeface="Saira Condensed"/>
                <a:ea typeface="Saira Condensed"/>
                <a:cs typeface="Saira Condensed"/>
                <a:sym typeface="Saira Condensed"/>
              </a:rPr>
              <a:t>Kartki z Syrenka </a:t>
            </a:r>
            <a:r>
              <a:rPr b="1" lang="en-US" sz="1150">
                <a:solidFill>
                  <a:srgbClr val="1F2B5E"/>
                </a:solidFill>
                <a:latin typeface="Saira Condensed"/>
                <a:ea typeface="Saira Condensed"/>
                <a:cs typeface="Saira Condensed"/>
                <a:sym typeface="Saira Condensed"/>
              </a:rPr>
              <a:t>łazienkowa na przystankach</a:t>
            </a:r>
            <a:r>
              <a:rPr b="1" lang="en-US" sz="1150">
                <a:solidFill>
                  <a:srgbClr val="1F2B5E"/>
                </a:solidFill>
                <a:latin typeface="Saira Condensed"/>
                <a:ea typeface="Saira Condensed"/>
                <a:cs typeface="Saira Condensed"/>
                <a:sym typeface="Saira Condensed"/>
              </a:rPr>
              <a:t> = w</a:t>
            </a:r>
            <a:r>
              <a:rPr b="1" lang="en-US" sz="1150">
                <a:solidFill>
                  <a:srgbClr val="1F2B5E"/>
                </a:solidFill>
                <a:latin typeface="Saira Condensed"/>
                <a:ea typeface="Saira Condensed"/>
                <a:cs typeface="Saira Condensed"/>
                <a:sym typeface="Saira Condensed"/>
              </a:rPr>
              <a:t>izerunek</a:t>
            </a:r>
            <a:r>
              <a:rPr b="1" i="0" lang="en-US" sz="1150" u="none" cap="none" strike="noStrike">
                <a:solidFill>
                  <a:srgbClr val="1F2B5E"/>
                </a:solidFill>
                <a:latin typeface="Saira Condensed"/>
                <a:ea typeface="Saira Condensed"/>
                <a:cs typeface="Saira Condensed"/>
                <a:sym typeface="Saira Condensed"/>
              </a:rPr>
              <a:t> </a:t>
            </a:r>
            <a:r>
              <a:rPr b="1" lang="en-US" sz="1150">
                <a:solidFill>
                  <a:srgbClr val="1F2B5E"/>
                </a:solidFill>
                <a:latin typeface="Saira Condensed"/>
                <a:ea typeface="Saira Condensed"/>
                <a:cs typeface="Saira Condensed"/>
                <a:sym typeface="Saira Condensed"/>
              </a:rPr>
              <a:t>bezpieczeństwa</a:t>
            </a:r>
            <a:r>
              <a:rPr b="1" i="0" lang="en-US" sz="1150" u="none" cap="none" strike="noStrike">
                <a:solidFill>
                  <a:srgbClr val="1F2B5E"/>
                </a:solidFill>
                <a:latin typeface="Saira Condensed"/>
                <a:ea typeface="Saira Condensed"/>
                <a:cs typeface="Saira Condensed"/>
                <a:sym typeface="Saira Condensed"/>
              </a:rPr>
              <a:t> i </a:t>
            </a:r>
            <a:r>
              <a:rPr b="1" lang="en-US" sz="1150">
                <a:solidFill>
                  <a:srgbClr val="1F2B5E"/>
                </a:solidFill>
                <a:latin typeface="Saira Condensed"/>
                <a:ea typeface="Saira Condensed"/>
                <a:cs typeface="Saira Condensed"/>
                <a:sym typeface="Saira Condensed"/>
              </a:rPr>
              <a:t>czystości</a:t>
            </a:r>
            <a:r>
              <a:rPr b="1" i="0" lang="en-US" sz="1150" u="none" cap="none" strike="noStrike">
                <a:solidFill>
                  <a:srgbClr val="1F2B5E"/>
                </a:solidFill>
                <a:latin typeface="Saira Condensed"/>
                <a:ea typeface="Saira Condensed"/>
                <a:cs typeface="Saira Condensed"/>
                <a:sym typeface="Saira Condensed"/>
              </a:rPr>
              <a:t>  dla Warszawy dla </a:t>
            </a:r>
            <a:r>
              <a:rPr b="1" lang="en-US" sz="1150">
                <a:solidFill>
                  <a:srgbClr val="1F2B5E"/>
                </a:solidFill>
                <a:latin typeface="Saira Condensed"/>
                <a:ea typeface="Saira Condensed"/>
                <a:cs typeface="Saira Condensed"/>
                <a:sym typeface="Saira Condensed"/>
              </a:rPr>
              <a:t>seniorów</a:t>
            </a:r>
            <a:r>
              <a:rPr b="1" i="0" lang="en-US" sz="1150" u="none" cap="none" strike="noStrike">
                <a:solidFill>
                  <a:srgbClr val="1F2B5E"/>
                </a:solidFill>
                <a:latin typeface="Saira Condensed"/>
                <a:ea typeface="Saira Condensed"/>
                <a:cs typeface="Saira Condensed"/>
                <a:sym typeface="Saira Condensed"/>
              </a:rPr>
              <a:t> i dla </a:t>
            </a:r>
            <a:r>
              <a:rPr b="1" lang="en-US" sz="1150">
                <a:solidFill>
                  <a:srgbClr val="1F2B5E"/>
                </a:solidFill>
                <a:latin typeface="Saira Condensed"/>
                <a:ea typeface="Saira Condensed"/>
                <a:cs typeface="Saira Condensed"/>
                <a:sym typeface="Saira Condensed"/>
              </a:rPr>
              <a:t>przyjezdnych</a:t>
            </a:r>
            <a:r>
              <a:rPr b="1" i="0" lang="en-US" sz="1150" u="none" cap="none" strike="noStrike">
                <a:solidFill>
                  <a:srgbClr val="1F2B5E"/>
                </a:solidFill>
                <a:latin typeface="Saira Condensed"/>
                <a:ea typeface="Saira Condensed"/>
                <a:cs typeface="Saira Condensed"/>
                <a:sym typeface="Saira Condensed"/>
              </a:rPr>
              <a:t> </a:t>
            </a:r>
            <a:endParaRPr b="1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0"/>
          <p:cNvSpPr txBox="1"/>
          <p:nvPr/>
        </p:nvSpPr>
        <p:spPr>
          <a:xfrm>
            <a:off x="560050" y="3105150"/>
            <a:ext cx="3202200" cy="5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1F2B5E"/>
                </a:solidFill>
                <a:latin typeface="Saira Condensed Medium"/>
                <a:ea typeface="Saira Condensed Medium"/>
                <a:cs typeface="Saira Condensed Medium"/>
                <a:sym typeface="Saira Condensed Medium"/>
              </a:rPr>
              <a:t>*Źródło: GUS,”Moda na </a:t>
            </a:r>
            <a:r>
              <a:rPr lang="en-US" sz="800">
                <a:solidFill>
                  <a:srgbClr val="1F2B5E"/>
                </a:solidFill>
                <a:latin typeface="Saira Condensed Medium"/>
                <a:ea typeface="Saira Condensed Medium"/>
                <a:cs typeface="Saira Condensed Medium"/>
                <a:sym typeface="Saira Condensed Medium"/>
              </a:rPr>
              <a:t>Polskę</a:t>
            </a:r>
            <a:r>
              <a:rPr lang="en-US" sz="800">
                <a:solidFill>
                  <a:srgbClr val="1F2B5E"/>
                </a:solidFill>
                <a:latin typeface="Saira Condensed Medium"/>
                <a:ea typeface="Saira Condensed Medium"/>
                <a:cs typeface="Saira Condensed Medium"/>
                <a:sym typeface="Saira Condensed Medium"/>
              </a:rPr>
              <a:t> 2025 rok pod znakiem rekordow w turystyce”, 2026</a:t>
            </a:r>
            <a:endParaRPr sz="800">
              <a:solidFill>
                <a:srgbClr val="1F2B5E"/>
              </a:solidFill>
              <a:latin typeface="Saira Condensed Medium"/>
              <a:ea typeface="Saira Condensed Medium"/>
              <a:cs typeface="Saira Condensed Medium"/>
              <a:sym typeface="Saira Condensed Medium"/>
            </a:endParaRPr>
          </a:p>
          <a:p>
            <a:pPr indent="0" lvl="0" marL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1F2B5E"/>
              </a:solidFill>
              <a:latin typeface="Saira Condensed Medium"/>
              <a:ea typeface="Saira Condensed Medium"/>
              <a:cs typeface="Saira Condensed Medium"/>
              <a:sym typeface="Saira Condensed Medium"/>
            </a:endParaRPr>
          </a:p>
          <a:p>
            <a:pPr indent="0" lvl="0" marL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1F2B5E"/>
              </a:solidFill>
              <a:latin typeface="Saira Condensed Medium"/>
              <a:ea typeface="Saira Condensed Medium"/>
              <a:cs typeface="Saira Condensed Medium"/>
              <a:sym typeface="Saira Condensed Medium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